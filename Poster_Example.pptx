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4"/>
  </p:sldMasterIdLst>
  <p:sldIdLst>
    <p:sldId id="256" r:id="rId5"/>
  </p:sldIdLst>
  <p:sldSz cx="27432000" cy="3657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520" userDrawn="1">
          <p15:clr>
            <a:srgbClr val="A4A3A4"/>
          </p15:clr>
        </p15:guide>
        <p15:guide id="2" pos="86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BD6"/>
    <a:srgbClr val="237194"/>
    <a:srgbClr val="FAA32B"/>
    <a:srgbClr val="00539C"/>
    <a:srgbClr val="333D79"/>
    <a:srgbClr val="2D2926"/>
    <a:srgbClr val="ED6F63"/>
    <a:srgbClr val="003D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734"/>
    <p:restoredTop sz="94664"/>
  </p:normalViewPr>
  <p:slideViewPr>
    <p:cSldViewPr snapToGrid="0" snapToObjects="1">
      <p:cViewPr>
        <p:scale>
          <a:sx n="60" d="100"/>
          <a:sy n="60" d="100"/>
        </p:scale>
        <p:origin x="360" y="144"/>
      </p:cViewPr>
      <p:guideLst>
        <p:guide orient="horz" pos="11520"/>
        <p:guide pos="86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57400" y="5985936"/>
            <a:ext cx="23317200" cy="12733867"/>
          </a:xfrm>
        </p:spPr>
        <p:txBody>
          <a:bodyPr anchor="b"/>
          <a:lstStyle>
            <a:lvl1pPr algn="ctr">
              <a:defRPr sz="1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29000" y="19210869"/>
            <a:ext cx="20574000" cy="8830731"/>
          </a:xfrm>
        </p:spPr>
        <p:txBody>
          <a:bodyPr/>
          <a:lstStyle>
            <a:lvl1pPr marL="0" indent="0" algn="ctr">
              <a:buNone/>
              <a:defRPr sz="7200"/>
            </a:lvl1pPr>
            <a:lvl2pPr marL="1371600" indent="0" algn="ctr">
              <a:buNone/>
              <a:defRPr sz="6000"/>
            </a:lvl2pPr>
            <a:lvl3pPr marL="2743200" indent="0" algn="ctr">
              <a:buNone/>
              <a:defRPr sz="5400"/>
            </a:lvl3pPr>
            <a:lvl4pPr marL="4114800" indent="0" algn="ctr">
              <a:buNone/>
              <a:defRPr sz="4800"/>
            </a:lvl4pPr>
            <a:lvl5pPr marL="5486400" indent="0" algn="ctr">
              <a:buNone/>
              <a:defRPr sz="4800"/>
            </a:lvl5pPr>
            <a:lvl6pPr marL="6858000" indent="0" algn="ctr">
              <a:buNone/>
              <a:defRPr sz="4800"/>
            </a:lvl6pPr>
            <a:lvl7pPr marL="8229600" indent="0" algn="ctr">
              <a:buNone/>
              <a:defRPr sz="4800"/>
            </a:lvl7pPr>
            <a:lvl8pPr marL="9601200" indent="0" algn="ctr">
              <a:buNone/>
              <a:defRPr sz="4800"/>
            </a:lvl8pPr>
            <a:lvl9pPr marL="10972800" indent="0" algn="ctr">
              <a:buNone/>
              <a:defRPr sz="4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B4AB-9BC1-CE45-86A6-BBCC9E970F2D}" type="datetimeFigureOut">
              <a:rPr lang="en-US" smtClean="0"/>
              <a:t>11/19/24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04D03-15AE-0741-960A-6ECF5B5D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400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B4AB-9BC1-CE45-86A6-BBCC9E970F2D}" type="datetimeFigureOut">
              <a:rPr lang="en-US" smtClean="0"/>
              <a:t>11/19/24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04D03-15AE-0741-960A-6ECF5B5D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940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1664" y="9118611"/>
            <a:ext cx="23660100" cy="15214597"/>
          </a:xfrm>
        </p:spPr>
        <p:txBody>
          <a:bodyPr anchor="b"/>
          <a:lstStyle>
            <a:lvl1pPr>
              <a:defRPr sz="1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71664" y="24477144"/>
            <a:ext cx="23660100" cy="8000997"/>
          </a:xfrm>
        </p:spPr>
        <p:txBody>
          <a:bodyPr/>
          <a:lstStyle>
            <a:lvl1pPr marL="0" indent="0">
              <a:buNone/>
              <a:defRPr sz="7200">
                <a:solidFill>
                  <a:schemeClr val="tx1"/>
                </a:solidFill>
              </a:defRPr>
            </a:lvl1pPr>
            <a:lvl2pPr marL="1371600" indent="0">
              <a:buNone/>
              <a:defRPr sz="6000">
                <a:solidFill>
                  <a:schemeClr val="tx1">
                    <a:tint val="75000"/>
                  </a:schemeClr>
                </a:solidFill>
              </a:defRPr>
            </a:lvl2pPr>
            <a:lvl3pPr marL="2743200" indent="0">
              <a:buNone/>
              <a:defRPr sz="5400">
                <a:solidFill>
                  <a:schemeClr val="tx1">
                    <a:tint val="75000"/>
                  </a:schemeClr>
                </a:solidFill>
              </a:defRPr>
            </a:lvl3pPr>
            <a:lvl4pPr marL="411480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4pPr>
            <a:lvl5pPr marL="548640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5pPr>
            <a:lvl6pPr marL="685800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822960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960120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1097280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B4AB-9BC1-CE45-86A6-BBCC9E970F2D}" type="datetimeFigureOut">
              <a:rPr lang="en-US" smtClean="0"/>
              <a:t>11/19/24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04D03-15AE-0741-960A-6ECF5B5D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998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85950" y="9736667"/>
            <a:ext cx="11658600" cy="232071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887450" y="9736667"/>
            <a:ext cx="11658600" cy="232071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B4AB-9BC1-CE45-86A6-BBCC9E970F2D}" type="datetimeFigureOut">
              <a:rPr lang="en-US" smtClean="0"/>
              <a:t>11/19/24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04D03-15AE-0741-960A-6ECF5B5D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169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23" y="1947342"/>
            <a:ext cx="23660100" cy="706966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9526" y="8966203"/>
            <a:ext cx="11605020" cy="4394197"/>
          </a:xfrm>
        </p:spPr>
        <p:txBody>
          <a:bodyPr anchor="b"/>
          <a:lstStyle>
            <a:lvl1pPr marL="0" indent="0">
              <a:buNone/>
              <a:defRPr sz="7200" b="1"/>
            </a:lvl1pPr>
            <a:lvl2pPr marL="1371600" indent="0">
              <a:buNone/>
              <a:defRPr sz="6000" b="1"/>
            </a:lvl2pPr>
            <a:lvl3pPr marL="2743200" indent="0">
              <a:buNone/>
              <a:defRPr sz="5400" b="1"/>
            </a:lvl3pPr>
            <a:lvl4pPr marL="4114800" indent="0">
              <a:buNone/>
              <a:defRPr sz="4800" b="1"/>
            </a:lvl4pPr>
            <a:lvl5pPr marL="5486400" indent="0">
              <a:buNone/>
              <a:defRPr sz="4800" b="1"/>
            </a:lvl5pPr>
            <a:lvl6pPr marL="6858000" indent="0">
              <a:buNone/>
              <a:defRPr sz="4800" b="1"/>
            </a:lvl6pPr>
            <a:lvl7pPr marL="8229600" indent="0">
              <a:buNone/>
              <a:defRPr sz="4800" b="1"/>
            </a:lvl7pPr>
            <a:lvl8pPr marL="9601200" indent="0">
              <a:buNone/>
              <a:defRPr sz="4800" b="1"/>
            </a:lvl8pPr>
            <a:lvl9pPr marL="10972800" indent="0">
              <a:buNone/>
              <a:defRPr sz="4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89526" y="13360400"/>
            <a:ext cx="11605020" cy="196511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3887452" y="8966203"/>
            <a:ext cx="11662173" cy="4394197"/>
          </a:xfrm>
        </p:spPr>
        <p:txBody>
          <a:bodyPr anchor="b"/>
          <a:lstStyle>
            <a:lvl1pPr marL="0" indent="0">
              <a:buNone/>
              <a:defRPr sz="7200" b="1"/>
            </a:lvl1pPr>
            <a:lvl2pPr marL="1371600" indent="0">
              <a:buNone/>
              <a:defRPr sz="6000" b="1"/>
            </a:lvl2pPr>
            <a:lvl3pPr marL="2743200" indent="0">
              <a:buNone/>
              <a:defRPr sz="5400" b="1"/>
            </a:lvl3pPr>
            <a:lvl4pPr marL="4114800" indent="0">
              <a:buNone/>
              <a:defRPr sz="4800" b="1"/>
            </a:lvl4pPr>
            <a:lvl5pPr marL="5486400" indent="0">
              <a:buNone/>
              <a:defRPr sz="4800" b="1"/>
            </a:lvl5pPr>
            <a:lvl6pPr marL="6858000" indent="0">
              <a:buNone/>
              <a:defRPr sz="4800" b="1"/>
            </a:lvl6pPr>
            <a:lvl7pPr marL="8229600" indent="0">
              <a:buNone/>
              <a:defRPr sz="4800" b="1"/>
            </a:lvl7pPr>
            <a:lvl8pPr marL="9601200" indent="0">
              <a:buNone/>
              <a:defRPr sz="4800" b="1"/>
            </a:lvl8pPr>
            <a:lvl9pPr marL="10972800" indent="0">
              <a:buNone/>
              <a:defRPr sz="4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3887452" y="13360400"/>
            <a:ext cx="11662173" cy="196511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B4AB-9BC1-CE45-86A6-BBCC9E970F2D}" type="datetimeFigureOut">
              <a:rPr lang="en-US" smtClean="0"/>
              <a:t>11/19/24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04D03-15AE-0741-960A-6ECF5B5D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162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B4AB-9BC1-CE45-86A6-BBCC9E970F2D}" type="datetimeFigureOut">
              <a:rPr lang="en-US" smtClean="0"/>
              <a:t>11/19/24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04D03-15AE-0741-960A-6ECF5B5D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961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B4AB-9BC1-CE45-86A6-BBCC9E970F2D}" type="datetimeFigureOut">
              <a:rPr lang="en-US" smtClean="0"/>
              <a:t>11/19/24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04D03-15AE-0741-960A-6ECF5B5D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38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23" y="2438400"/>
            <a:ext cx="8847534" cy="8534400"/>
          </a:xfrm>
        </p:spPr>
        <p:txBody>
          <a:bodyPr anchor="b"/>
          <a:lstStyle>
            <a:lvl1pPr>
              <a:defRPr sz="9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62173" y="5266275"/>
            <a:ext cx="13887450" cy="25992667"/>
          </a:xfrm>
        </p:spPr>
        <p:txBody>
          <a:bodyPr/>
          <a:lstStyle>
            <a:lvl1pPr>
              <a:defRPr sz="9600"/>
            </a:lvl1pPr>
            <a:lvl2pPr>
              <a:defRPr sz="8400"/>
            </a:lvl2pPr>
            <a:lvl3pPr>
              <a:defRPr sz="7200"/>
            </a:lvl3pPr>
            <a:lvl4pPr>
              <a:defRPr sz="6000"/>
            </a:lvl4pPr>
            <a:lvl5pPr>
              <a:defRPr sz="6000"/>
            </a:lvl5pPr>
            <a:lvl6pPr>
              <a:defRPr sz="6000"/>
            </a:lvl6pPr>
            <a:lvl7pPr>
              <a:defRPr sz="6000"/>
            </a:lvl7pPr>
            <a:lvl8pPr>
              <a:defRPr sz="6000"/>
            </a:lvl8pPr>
            <a:lvl9pPr>
              <a:defRPr sz="6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89523" y="10972800"/>
            <a:ext cx="8847534" cy="20328469"/>
          </a:xfrm>
        </p:spPr>
        <p:txBody>
          <a:bodyPr/>
          <a:lstStyle>
            <a:lvl1pPr marL="0" indent="0">
              <a:buNone/>
              <a:defRPr sz="4800"/>
            </a:lvl1pPr>
            <a:lvl2pPr marL="1371600" indent="0">
              <a:buNone/>
              <a:defRPr sz="4200"/>
            </a:lvl2pPr>
            <a:lvl3pPr marL="2743200" indent="0">
              <a:buNone/>
              <a:defRPr sz="3600"/>
            </a:lvl3pPr>
            <a:lvl4pPr marL="4114800" indent="0">
              <a:buNone/>
              <a:defRPr sz="3000"/>
            </a:lvl4pPr>
            <a:lvl5pPr marL="5486400" indent="0">
              <a:buNone/>
              <a:defRPr sz="3000"/>
            </a:lvl5pPr>
            <a:lvl6pPr marL="6858000" indent="0">
              <a:buNone/>
              <a:defRPr sz="3000"/>
            </a:lvl6pPr>
            <a:lvl7pPr marL="8229600" indent="0">
              <a:buNone/>
              <a:defRPr sz="3000"/>
            </a:lvl7pPr>
            <a:lvl8pPr marL="9601200" indent="0">
              <a:buNone/>
              <a:defRPr sz="3000"/>
            </a:lvl8pPr>
            <a:lvl9pPr marL="10972800" indent="0">
              <a:buNone/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B4AB-9BC1-CE45-86A6-BBCC9E970F2D}" type="datetimeFigureOut">
              <a:rPr lang="en-US" smtClean="0"/>
              <a:t>11/19/24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04D03-15AE-0741-960A-6ECF5B5D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454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23" y="2438400"/>
            <a:ext cx="8847534" cy="8534400"/>
          </a:xfrm>
        </p:spPr>
        <p:txBody>
          <a:bodyPr anchor="b"/>
          <a:lstStyle>
            <a:lvl1pPr>
              <a:defRPr sz="9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62173" y="5266275"/>
            <a:ext cx="13887450" cy="25992667"/>
          </a:xfrm>
        </p:spPr>
        <p:txBody>
          <a:bodyPr anchor="t"/>
          <a:lstStyle>
            <a:lvl1pPr marL="0" indent="0">
              <a:buNone/>
              <a:defRPr sz="9600"/>
            </a:lvl1pPr>
            <a:lvl2pPr marL="1371600" indent="0">
              <a:buNone/>
              <a:defRPr sz="8400"/>
            </a:lvl2pPr>
            <a:lvl3pPr marL="2743200" indent="0">
              <a:buNone/>
              <a:defRPr sz="7200"/>
            </a:lvl3pPr>
            <a:lvl4pPr marL="4114800" indent="0">
              <a:buNone/>
              <a:defRPr sz="6000"/>
            </a:lvl4pPr>
            <a:lvl5pPr marL="5486400" indent="0">
              <a:buNone/>
              <a:defRPr sz="6000"/>
            </a:lvl5pPr>
            <a:lvl6pPr marL="6858000" indent="0">
              <a:buNone/>
              <a:defRPr sz="6000"/>
            </a:lvl6pPr>
            <a:lvl7pPr marL="8229600" indent="0">
              <a:buNone/>
              <a:defRPr sz="6000"/>
            </a:lvl7pPr>
            <a:lvl8pPr marL="9601200" indent="0">
              <a:buNone/>
              <a:defRPr sz="6000"/>
            </a:lvl8pPr>
            <a:lvl9pPr marL="10972800" indent="0">
              <a:buNone/>
              <a:defRPr sz="6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89523" y="10972800"/>
            <a:ext cx="8847534" cy="20328469"/>
          </a:xfrm>
        </p:spPr>
        <p:txBody>
          <a:bodyPr/>
          <a:lstStyle>
            <a:lvl1pPr marL="0" indent="0">
              <a:buNone/>
              <a:defRPr sz="4800"/>
            </a:lvl1pPr>
            <a:lvl2pPr marL="1371600" indent="0">
              <a:buNone/>
              <a:defRPr sz="4200"/>
            </a:lvl2pPr>
            <a:lvl3pPr marL="2743200" indent="0">
              <a:buNone/>
              <a:defRPr sz="3600"/>
            </a:lvl3pPr>
            <a:lvl4pPr marL="4114800" indent="0">
              <a:buNone/>
              <a:defRPr sz="3000"/>
            </a:lvl4pPr>
            <a:lvl5pPr marL="5486400" indent="0">
              <a:buNone/>
              <a:defRPr sz="3000"/>
            </a:lvl5pPr>
            <a:lvl6pPr marL="6858000" indent="0">
              <a:buNone/>
              <a:defRPr sz="3000"/>
            </a:lvl6pPr>
            <a:lvl7pPr marL="8229600" indent="0">
              <a:buNone/>
              <a:defRPr sz="3000"/>
            </a:lvl7pPr>
            <a:lvl8pPr marL="9601200" indent="0">
              <a:buNone/>
              <a:defRPr sz="3000"/>
            </a:lvl8pPr>
            <a:lvl9pPr marL="10972800" indent="0">
              <a:buNone/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B4AB-9BC1-CE45-86A6-BBCC9E970F2D}" type="datetimeFigureOut">
              <a:rPr lang="en-US" smtClean="0"/>
              <a:t>11/19/24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04D03-15AE-0741-960A-6ECF5B5D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972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B4AB-9BC1-CE45-86A6-BBCC9E970F2D}" type="datetimeFigureOut">
              <a:rPr lang="en-US" smtClean="0"/>
              <a:t>11/19/24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04D03-15AE-0741-960A-6ECF5B5D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10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9631027" y="1947334"/>
            <a:ext cx="5915025" cy="3099646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885952" y="1947334"/>
            <a:ext cx="17402175" cy="3099646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B4AB-9BC1-CE45-86A6-BBCC9E970F2D}" type="datetimeFigureOut">
              <a:rPr lang="en-US" smtClean="0"/>
              <a:t>11/19/24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04D03-15AE-0741-960A-6ECF5B5D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051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85950" y="1947342"/>
            <a:ext cx="23660100" cy="7069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5950" y="9736667"/>
            <a:ext cx="23660100" cy="23207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885950" y="33900542"/>
            <a:ext cx="6172200" cy="19473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1FB4AB-9BC1-CE45-86A6-BBCC9E970F2D}" type="datetimeFigureOut">
              <a:rPr lang="en-US" smtClean="0"/>
              <a:t>11/19/24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086850" y="33900542"/>
            <a:ext cx="9258300" cy="19473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9373850" y="33900542"/>
            <a:ext cx="6172200" cy="19473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504D03-15AE-0741-960A-6ECF5B5D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897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743200" rtl="0" eaLnBrk="1" latinLnBrk="0" hangingPunct="1">
        <a:lnSpc>
          <a:spcPct val="90000"/>
        </a:lnSpc>
        <a:spcBef>
          <a:spcPct val="0"/>
        </a:spcBef>
        <a:buNone/>
        <a:defRPr sz="1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85800" indent="-685800" algn="l" defTabSz="2743200" rtl="0" eaLnBrk="1" latinLnBrk="0" hangingPunct="1">
        <a:lnSpc>
          <a:spcPct val="90000"/>
        </a:lnSpc>
        <a:spcBef>
          <a:spcPts val="3000"/>
        </a:spcBef>
        <a:buFont typeface="Arial" panose="020B0604020202020204" pitchFamily="34" charset="0"/>
        <a:buChar char="•"/>
        <a:defRPr sz="8400" kern="1200">
          <a:solidFill>
            <a:schemeClr val="tx1"/>
          </a:solidFill>
          <a:latin typeface="+mn-lt"/>
          <a:ea typeface="+mn-ea"/>
          <a:cs typeface="+mn-cs"/>
        </a:defRPr>
      </a:lvl1pPr>
      <a:lvl2pPr marL="20574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2pPr>
      <a:lvl3pPr marL="34290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6000" kern="1200">
          <a:solidFill>
            <a:schemeClr val="tx1"/>
          </a:solidFill>
          <a:latin typeface="+mn-lt"/>
          <a:ea typeface="+mn-ea"/>
          <a:cs typeface="+mn-cs"/>
        </a:defRPr>
      </a:lvl3pPr>
      <a:lvl4pPr marL="48006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4pPr>
      <a:lvl5pPr marL="61722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5pPr>
      <a:lvl6pPr marL="75438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6pPr>
      <a:lvl7pPr marL="89154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7pPr>
      <a:lvl8pPr marL="102870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8pPr>
      <a:lvl9pPr marL="116586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3pPr>
      <a:lvl4pPr marL="41148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4pPr>
      <a:lvl5pPr marL="54864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5pPr>
      <a:lvl6pPr marL="68580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6pPr>
      <a:lvl7pPr marL="82296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7pPr>
      <a:lvl8pPr marL="96012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8pPr>
      <a:lvl9pPr marL="109728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64139718-5B17-D9ED-6167-31B9CBE665B7}"/>
              </a:ext>
            </a:extLst>
          </p:cNvPr>
          <p:cNvSpPr/>
          <p:nvPr/>
        </p:nvSpPr>
        <p:spPr>
          <a:xfrm>
            <a:off x="789379" y="10433941"/>
            <a:ext cx="7348781" cy="1688568"/>
          </a:xfrm>
          <a:prstGeom prst="roundRect">
            <a:avLst/>
          </a:prstGeom>
          <a:solidFill>
            <a:srgbClr val="FAA32B"/>
          </a:solidFill>
          <a:ln>
            <a:solidFill>
              <a:srgbClr val="FAA3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E3E3A997-AC34-4F4F-AB70-E535DDD5B7DE}"/>
              </a:ext>
            </a:extLst>
          </p:cNvPr>
          <p:cNvSpPr/>
          <p:nvPr/>
        </p:nvSpPr>
        <p:spPr>
          <a:xfrm>
            <a:off x="285750" y="164593"/>
            <a:ext cx="26860500" cy="2633996"/>
          </a:xfrm>
          <a:prstGeom prst="roundRect">
            <a:avLst/>
          </a:prstGeom>
          <a:solidFill>
            <a:srgbClr val="237194"/>
          </a:solidFill>
        </p:spPr>
        <p:txBody>
          <a:bodyPr wrap="square" lIns="0" tIns="0" rIns="0" bIns="0" rtlCol="0"/>
          <a:lstStyle/>
          <a:p>
            <a:endParaRPr sz="3016">
              <a:latin typeface="LM Roman 10" pitchFamily="2" charset="77"/>
            </a:endParaRPr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1E7FBB64-4D0D-0A4B-90FA-4E80427AEDDE}"/>
              </a:ext>
            </a:extLst>
          </p:cNvPr>
          <p:cNvSpPr txBox="1">
            <a:spLocks/>
          </p:cNvSpPr>
          <p:nvPr/>
        </p:nvSpPr>
        <p:spPr>
          <a:xfrm>
            <a:off x="558512" y="342170"/>
            <a:ext cx="26314975" cy="1687283"/>
          </a:xfrm>
          <a:prstGeom prst="rect">
            <a:avLst/>
          </a:prstGeom>
        </p:spPr>
        <p:txBody>
          <a:bodyPr vert="horz" wrap="square" lIns="0" tIns="12345" rIns="0" bIns="0" rtlCol="0" anchor="b">
            <a:spAutoFit/>
          </a:bodyPr>
          <a:lstStyle>
            <a:lvl1pPr algn="ctr" defTabSz="4389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994">
              <a:spcBef>
                <a:spcPts val="98"/>
              </a:spcBef>
              <a:tabLst>
                <a:tab pos="2870481" algn="l"/>
              </a:tabLst>
            </a:pPr>
            <a:r>
              <a:rPr lang="en-US" sz="6000" dirty="0">
                <a:solidFill>
                  <a:schemeClr val="bg1"/>
                </a:solidFill>
                <a:latin typeface="LM Roman 10" pitchFamily="2" charset="77"/>
              </a:rPr>
              <a:t>Statements of Denial of Responsibility by Armed Actors and </a:t>
            </a:r>
          </a:p>
          <a:p>
            <a:pPr marL="12994">
              <a:spcBef>
                <a:spcPts val="98"/>
              </a:spcBef>
              <a:tabLst>
                <a:tab pos="2870481" algn="l"/>
              </a:tabLst>
            </a:pPr>
            <a:r>
              <a:rPr lang="en-US" sz="6000" dirty="0">
                <a:solidFill>
                  <a:schemeClr val="bg1"/>
                </a:solidFill>
                <a:latin typeface="LM Roman 10" pitchFamily="2" charset="77"/>
              </a:rPr>
              <a:t>Public Perceptions of Government’s Credibility</a:t>
            </a:r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0E51A11A-3A38-D04C-9B83-12833A3C48F8}"/>
              </a:ext>
            </a:extLst>
          </p:cNvPr>
          <p:cNvSpPr txBox="1"/>
          <p:nvPr/>
        </p:nvSpPr>
        <p:spPr>
          <a:xfrm>
            <a:off x="0" y="2083945"/>
            <a:ext cx="27432000" cy="555667"/>
          </a:xfrm>
          <a:prstGeom prst="rect">
            <a:avLst/>
          </a:prstGeom>
        </p:spPr>
        <p:txBody>
          <a:bodyPr vert="horz" wrap="square" lIns="0" tIns="16893" rIns="0" bIns="0" rtlCol="0">
            <a:spAutoFit/>
          </a:bodyPr>
          <a:lstStyle/>
          <a:p>
            <a:pPr marL="12994" algn="ctr">
              <a:spcBef>
                <a:spcPts val="133"/>
              </a:spcBef>
            </a:pPr>
            <a:r>
              <a:rPr lang="en-US" sz="3500" spc="10" dirty="0">
                <a:solidFill>
                  <a:srgbClr val="FFFFFF"/>
                </a:solidFill>
                <a:latin typeface="LM Roman 10" pitchFamily="2" charset="77"/>
                <a:cs typeface="Arial"/>
              </a:rPr>
              <a:t>Ilayda B. Onder</a:t>
            </a:r>
            <a:endParaRPr sz="3500" dirty="0">
              <a:latin typeface="LM Roman 10" pitchFamily="2" charset="77"/>
              <a:cs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F5499B-B9D2-4E4F-907B-C0C3C36E7170}"/>
              </a:ext>
            </a:extLst>
          </p:cNvPr>
          <p:cNvSpPr/>
          <p:nvPr/>
        </p:nvSpPr>
        <p:spPr>
          <a:xfrm>
            <a:off x="415638" y="2992663"/>
            <a:ext cx="8001000" cy="330531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5">
              <a:latin typeface="LM Roman 10" pitchFamily="2" charset="77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54F5FD7-48B7-4BBC-BDD7-383670B35ED1}"/>
              </a:ext>
            </a:extLst>
          </p:cNvPr>
          <p:cNvSpPr/>
          <p:nvPr/>
        </p:nvSpPr>
        <p:spPr>
          <a:xfrm>
            <a:off x="8858250" y="2992662"/>
            <a:ext cx="9715500" cy="1415484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5">
              <a:latin typeface="LM Roman 10" pitchFamily="2" charset="77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A4E6EBB-C186-4CCF-A2F1-EC9C16C8FA27}"/>
              </a:ext>
            </a:extLst>
          </p:cNvPr>
          <p:cNvSpPr/>
          <p:nvPr/>
        </p:nvSpPr>
        <p:spPr>
          <a:xfrm>
            <a:off x="19015363" y="2992663"/>
            <a:ext cx="8001000" cy="1415484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5">
              <a:latin typeface="LM Roman 10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6AE4B3-05D1-466A-B2B8-F0CAE9A2C679}"/>
              </a:ext>
            </a:extLst>
          </p:cNvPr>
          <p:cNvSpPr txBox="1"/>
          <p:nvPr/>
        </p:nvSpPr>
        <p:spPr>
          <a:xfrm>
            <a:off x="558513" y="3176500"/>
            <a:ext cx="7715250" cy="630942"/>
          </a:xfrm>
          <a:prstGeom prst="rect">
            <a:avLst/>
          </a:prstGeom>
          <a:solidFill>
            <a:srgbClr val="23719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500" dirty="0">
                <a:solidFill>
                  <a:schemeClr val="bg1"/>
                </a:solidFill>
                <a:latin typeface="LM Roman 10" pitchFamily="2" charset="77"/>
              </a:rPr>
              <a:t>Research Question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50B7D73-B82E-43F5-B769-817F6259F094}"/>
              </a:ext>
            </a:extLst>
          </p:cNvPr>
          <p:cNvSpPr txBox="1"/>
          <p:nvPr/>
        </p:nvSpPr>
        <p:spPr>
          <a:xfrm>
            <a:off x="558513" y="7499665"/>
            <a:ext cx="7715250" cy="630942"/>
          </a:xfrm>
          <a:prstGeom prst="rect">
            <a:avLst/>
          </a:prstGeom>
          <a:solidFill>
            <a:srgbClr val="23719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500" dirty="0">
                <a:solidFill>
                  <a:schemeClr val="bg1"/>
                </a:solidFill>
                <a:latin typeface="LM Roman 10" pitchFamily="2" charset="77"/>
              </a:rPr>
              <a:t>Introduction and Literature Review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D39FBB9-B1AC-4C43-8A11-807B422E100A}"/>
              </a:ext>
            </a:extLst>
          </p:cNvPr>
          <p:cNvSpPr txBox="1"/>
          <p:nvPr/>
        </p:nvSpPr>
        <p:spPr>
          <a:xfrm>
            <a:off x="19158238" y="3176500"/>
            <a:ext cx="7715250" cy="630942"/>
          </a:xfrm>
          <a:prstGeom prst="rect">
            <a:avLst/>
          </a:prstGeom>
          <a:solidFill>
            <a:srgbClr val="23719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500" dirty="0">
                <a:solidFill>
                  <a:schemeClr val="bg1"/>
                </a:solidFill>
                <a:latin typeface="LM Roman 10" pitchFamily="2" charset="77"/>
              </a:rPr>
              <a:t>Discussion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5AFA677-9F4D-45EE-8117-7EB3A7F858FC}"/>
              </a:ext>
            </a:extLst>
          </p:cNvPr>
          <p:cNvSpPr txBox="1"/>
          <p:nvPr/>
        </p:nvSpPr>
        <p:spPr>
          <a:xfrm>
            <a:off x="19158238" y="10792563"/>
            <a:ext cx="7715250" cy="630942"/>
          </a:xfrm>
          <a:prstGeom prst="rect">
            <a:avLst/>
          </a:prstGeom>
          <a:solidFill>
            <a:srgbClr val="23719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500" dirty="0">
                <a:solidFill>
                  <a:schemeClr val="bg1"/>
                </a:solidFill>
                <a:latin typeface="LM Roman 10" pitchFamily="2" charset="77"/>
              </a:rPr>
              <a:t>Conclusion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F5A67FF-5E76-4EBE-BDC9-A5ADE0F423AF}"/>
              </a:ext>
            </a:extLst>
          </p:cNvPr>
          <p:cNvSpPr txBox="1"/>
          <p:nvPr/>
        </p:nvSpPr>
        <p:spPr>
          <a:xfrm>
            <a:off x="9001125" y="3176500"/>
            <a:ext cx="9429750" cy="630942"/>
          </a:xfrm>
          <a:prstGeom prst="rect">
            <a:avLst/>
          </a:prstGeom>
          <a:solidFill>
            <a:srgbClr val="23719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500" dirty="0">
                <a:solidFill>
                  <a:schemeClr val="bg1"/>
                </a:solidFill>
                <a:latin typeface="LM Roman 10" pitchFamily="2" charset="77"/>
              </a:rPr>
              <a:t>Methods and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2CEECD-B848-4C37-9C08-A7D4D34FEACE}"/>
              </a:ext>
            </a:extLst>
          </p:cNvPr>
          <p:cNvSpPr txBox="1"/>
          <p:nvPr/>
        </p:nvSpPr>
        <p:spPr>
          <a:xfrm>
            <a:off x="558513" y="3935755"/>
            <a:ext cx="771525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dirty="0">
                <a:latin typeface="LM Roman 10" pitchFamily="2" charset="77"/>
              </a:rPr>
              <a:t>RQ1: </a:t>
            </a:r>
            <a:r>
              <a:rPr lang="en-US" sz="3000" i="0" dirty="0">
                <a:solidFill>
                  <a:srgbClr val="0D0D0D"/>
                </a:solidFill>
                <a:effectLst/>
                <a:latin typeface="LM Roman 10" pitchFamily="2" charset="77"/>
              </a:rPr>
              <a:t>How do </a:t>
            </a:r>
            <a:r>
              <a:rPr lang="en-US" sz="3000" i="0" u="sng" dirty="0">
                <a:solidFill>
                  <a:srgbClr val="0D0D0D"/>
                </a:solidFill>
                <a:effectLst/>
                <a:latin typeface="LM Roman 10" pitchFamily="2" charset="77"/>
              </a:rPr>
              <a:t>statements of denial </a:t>
            </a:r>
            <a:r>
              <a:rPr lang="en-US" sz="3000" i="0" dirty="0">
                <a:solidFill>
                  <a:srgbClr val="0D0D0D"/>
                </a:solidFill>
                <a:effectLst/>
                <a:latin typeface="LM Roman 10" pitchFamily="2" charset="77"/>
              </a:rPr>
              <a:t>by armed groups affect public perceptions of their </a:t>
            </a:r>
            <a:r>
              <a:rPr lang="en-US" sz="3000" i="0" u="sng" dirty="0">
                <a:solidFill>
                  <a:srgbClr val="0D0D0D"/>
                </a:solidFill>
                <a:effectLst/>
                <a:latin typeface="LM Roman 10" pitchFamily="2" charset="77"/>
              </a:rPr>
              <a:t>involvement in violence</a:t>
            </a:r>
            <a:r>
              <a:rPr lang="en-US" sz="3000" i="0" dirty="0">
                <a:solidFill>
                  <a:srgbClr val="0D0D0D"/>
                </a:solidFill>
                <a:effectLst/>
                <a:latin typeface="LM Roman 10" pitchFamily="2" charset="77"/>
              </a:rPr>
              <a:t> and the </a:t>
            </a:r>
            <a:r>
              <a:rPr lang="en-US" sz="3000" i="0" u="sng" dirty="0">
                <a:solidFill>
                  <a:srgbClr val="0D0D0D"/>
                </a:solidFill>
                <a:effectLst/>
                <a:latin typeface="LM Roman 10" pitchFamily="2" charset="77"/>
              </a:rPr>
              <a:t>credibility of government</a:t>
            </a:r>
            <a:r>
              <a:rPr lang="en-US" sz="3000" i="0" dirty="0">
                <a:solidFill>
                  <a:srgbClr val="0D0D0D"/>
                </a:solidFill>
                <a:effectLst/>
                <a:latin typeface="LM Roman 10" pitchFamily="2" charset="77"/>
              </a:rPr>
              <a:t> attributions?</a:t>
            </a:r>
          </a:p>
          <a:p>
            <a:pPr algn="just"/>
            <a:endParaRPr lang="en-US" sz="3000" dirty="0">
              <a:solidFill>
                <a:srgbClr val="0D0D0D"/>
              </a:solidFill>
              <a:latin typeface="LM Roman 10" pitchFamily="2" charset="77"/>
            </a:endParaRPr>
          </a:p>
          <a:p>
            <a:pPr algn="just"/>
            <a:r>
              <a:rPr lang="en-US" sz="3000" dirty="0">
                <a:solidFill>
                  <a:srgbClr val="0D0D0D"/>
                </a:solidFill>
                <a:latin typeface="LM Roman 10" pitchFamily="2" charset="77"/>
              </a:rPr>
              <a:t>RQ2: </a:t>
            </a:r>
            <a:r>
              <a:rPr lang="en-US" sz="3000" i="0" dirty="0">
                <a:solidFill>
                  <a:srgbClr val="0D0D0D"/>
                </a:solidFill>
                <a:effectLst/>
                <a:latin typeface="LM Roman 10" pitchFamily="2" charset="77"/>
              </a:rPr>
              <a:t>What role do </a:t>
            </a:r>
            <a:r>
              <a:rPr lang="en-US" sz="3000" i="0" u="sng" dirty="0">
                <a:solidFill>
                  <a:srgbClr val="0D0D0D"/>
                </a:solidFill>
                <a:effectLst/>
                <a:latin typeface="LM Roman 10" pitchFamily="2" charset="77"/>
              </a:rPr>
              <a:t>emotional responses</a:t>
            </a:r>
            <a:r>
              <a:rPr lang="en-US" sz="3000" i="0" dirty="0">
                <a:solidFill>
                  <a:srgbClr val="0D0D0D"/>
                </a:solidFill>
                <a:effectLst/>
                <a:latin typeface="LM Roman 10" pitchFamily="2" charset="77"/>
              </a:rPr>
              <a:t> play in mediating this relationship?</a:t>
            </a:r>
            <a:endParaRPr lang="en-US" sz="3000" dirty="0">
              <a:latin typeface="LM Roman 10" pitchFamily="2" charset="7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F6BA8E8-D4AD-4EEC-9680-340589449C5B}"/>
              </a:ext>
            </a:extLst>
          </p:cNvPr>
          <p:cNvSpPr txBox="1"/>
          <p:nvPr/>
        </p:nvSpPr>
        <p:spPr>
          <a:xfrm>
            <a:off x="558513" y="8113730"/>
            <a:ext cx="771525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dirty="0">
                <a:effectLst/>
                <a:latin typeface="LM Roman 10" pitchFamily="2" charset="77"/>
                <a:ea typeface="Calibri" panose="020F0502020204030204" pitchFamily="34" charset="0"/>
              </a:rPr>
              <a:t>Armed actors publish statements of denials, disclaiming, disowning, or dissociating from violent acts. This is </a:t>
            </a:r>
            <a:r>
              <a:rPr lang="en-US" sz="3000" u="sng" dirty="0">
                <a:solidFill>
                  <a:srgbClr val="0D0D0D"/>
                </a:solidFill>
                <a:latin typeface="LM Roman 10" pitchFamily="2" charset="77"/>
              </a:rPr>
              <a:t>contradictory to the logic of costly signaling.</a:t>
            </a:r>
            <a:endParaRPr lang="en-US" sz="3000" dirty="0">
              <a:latin typeface="LM Roman 10" pitchFamily="2" charset="77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E726832-80F6-4BC6-97FA-815EBBBA0DDE}"/>
              </a:ext>
            </a:extLst>
          </p:cNvPr>
          <p:cNvSpPr txBox="1"/>
          <p:nvPr/>
        </p:nvSpPr>
        <p:spPr>
          <a:xfrm>
            <a:off x="19158235" y="4020835"/>
            <a:ext cx="7715251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just">
              <a:buAutoNum type="arabicPeriod"/>
            </a:pPr>
            <a:r>
              <a:rPr lang="en-US" sz="3000" dirty="0">
                <a:latin typeface="LM Roman 10" pitchFamily="2" charset="77"/>
                <a:ea typeface="Calibri" panose="020F0502020204030204" pitchFamily="34" charset="0"/>
              </a:rPr>
              <a:t>S</a:t>
            </a:r>
            <a:r>
              <a:rPr lang="en-US" sz="3000" dirty="0">
                <a:effectLst/>
                <a:latin typeface="LM Roman 10" pitchFamily="2" charset="77"/>
                <a:ea typeface="Calibri" panose="020F0502020204030204" pitchFamily="34" charset="0"/>
              </a:rPr>
              <a:t>tatements of denial </a:t>
            </a:r>
            <a:r>
              <a:rPr lang="en-US" sz="3000" u="sng" dirty="0">
                <a:effectLst/>
                <a:latin typeface="LM Roman 10" pitchFamily="2" charset="77"/>
                <a:ea typeface="Calibri" panose="020F0502020204030204" pitchFamily="34" charset="0"/>
              </a:rPr>
              <a:t>convince individuals</a:t>
            </a:r>
            <a:r>
              <a:rPr lang="en-US" sz="3000" dirty="0">
                <a:effectLst/>
                <a:latin typeface="LM Roman 10" pitchFamily="2" charset="77"/>
                <a:ea typeface="Calibri" panose="020F0502020204030204" pitchFamily="34" charset="0"/>
              </a:rPr>
              <a:t> that the armed group publishing the statement played no role in the attack.</a:t>
            </a:r>
          </a:p>
          <a:p>
            <a:pPr marL="514350" indent="-514350" algn="just">
              <a:buAutoNum type="arabicPeriod"/>
            </a:pPr>
            <a:endParaRPr lang="en-US" sz="3000" dirty="0">
              <a:effectLst/>
              <a:latin typeface="LM Roman 10" pitchFamily="2" charset="77"/>
              <a:ea typeface="Calibri" panose="020F0502020204030204" pitchFamily="34" charset="0"/>
            </a:endParaRPr>
          </a:p>
          <a:p>
            <a:pPr marL="514350" indent="-514350" algn="just">
              <a:buAutoNum type="arabicPeriod"/>
            </a:pPr>
            <a:r>
              <a:rPr lang="en-US" sz="3000" dirty="0">
                <a:effectLst/>
                <a:latin typeface="LM Roman 10" pitchFamily="2" charset="77"/>
                <a:ea typeface="Calibri" panose="020F0502020204030204" pitchFamily="34" charset="0"/>
              </a:rPr>
              <a:t>By refuting responsibility for an attack attributed to them by the government, </a:t>
            </a:r>
            <a:r>
              <a:rPr lang="en-US" sz="3000" u="sng" dirty="0">
                <a:effectLst/>
                <a:latin typeface="LM Roman 10" pitchFamily="2" charset="77"/>
                <a:ea typeface="Calibri" panose="020F0502020204030204" pitchFamily="34" charset="0"/>
              </a:rPr>
              <a:t>armed groups can cast public doubt </a:t>
            </a:r>
            <a:r>
              <a:rPr lang="en-US" sz="3000" dirty="0">
                <a:effectLst/>
                <a:latin typeface="LM Roman 10" pitchFamily="2" charset="77"/>
                <a:ea typeface="Calibri" panose="020F0502020204030204" pitchFamily="34" charset="0"/>
              </a:rPr>
              <a:t>on the government’s credibility.</a:t>
            </a:r>
          </a:p>
          <a:p>
            <a:pPr marL="514350" indent="-514350" algn="just">
              <a:buAutoNum type="arabicPeriod"/>
            </a:pPr>
            <a:endParaRPr lang="en-US" sz="3000" dirty="0">
              <a:effectLst/>
              <a:latin typeface="LM Roman 10" pitchFamily="2" charset="77"/>
              <a:ea typeface="Calibri" panose="020F0502020204030204" pitchFamily="34" charset="0"/>
            </a:endParaRPr>
          </a:p>
          <a:p>
            <a:pPr marL="514350" indent="-514350" algn="just">
              <a:buAutoNum type="arabicPeriod"/>
            </a:pPr>
            <a:r>
              <a:rPr lang="en-US" sz="3000" u="sng" dirty="0">
                <a:latin typeface="LM Roman 10" pitchFamily="2" charset="77"/>
                <a:ea typeface="Calibri" panose="020F0502020204030204" pitchFamily="34" charset="0"/>
              </a:rPr>
              <a:t>E</a:t>
            </a:r>
            <a:r>
              <a:rPr lang="en-US" sz="3000" u="sng" dirty="0">
                <a:effectLst/>
                <a:latin typeface="LM Roman 10" pitchFamily="2" charset="77"/>
                <a:ea typeface="Calibri" panose="020F0502020204030204" pitchFamily="34" charset="0"/>
              </a:rPr>
              <a:t>motional responses to violence </a:t>
            </a:r>
            <a:r>
              <a:rPr lang="en-US" sz="3000" dirty="0">
                <a:effectLst/>
                <a:latin typeface="LM Roman 10" pitchFamily="2" charset="77"/>
                <a:ea typeface="Calibri" panose="020F0502020204030204" pitchFamily="34" charset="0"/>
              </a:rPr>
              <a:t>partially mediate these relationships: statements of denial reduce the outrage and disgust, which consequently reduces people’s trust in government’s credibility.</a:t>
            </a:r>
            <a:endParaRPr lang="en-US" sz="3000" dirty="0">
              <a:latin typeface="LM Roman 10" pitchFamily="2" charset="7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76171C-99EB-C384-3A82-2F64ABFE0506}"/>
              </a:ext>
            </a:extLst>
          </p:cNvPr>
          <p:cNvSpPr txBox="1"/>
          <p:nvPr/>
        </p:nvSpPr>
        <p:spPr>
          <a:xfrm>
            <a:off x="932423" y="10573661"/>
            <a:ext cx="707060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dirty="0">
                <a:effectLst/>
                <a:latin typeface="LM Roman 10" pitchFamily="2" charset="77"/>
                <a:ea typeface="Calibri" panose="020F0502020204030204" pitchFamily="34" charset="0"/>
              </a:rPr>
              <a:t>If acts of political violence are meant to serve as costly signals, why would they deny their involvement in such acts?</a:t>
            </a:r>
            <a:endParaRPr lang="en-US" sz="3000" dirty="0">
              <a:latin typeface="LM Roman 10" pitchFamily="2" charset="7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D9BEFD-2D68-F5E0-AB0D-AC4773FE769B}"/>
              </a:ext>
            </a:extLst>
          </p:cNvPr>
          <p:cNvSpPr txBox="1"/>
          <p:nvPr/>
        </p:nvSpPr>
        <p:spPr>
          <a:xfrm>
            <a:off x="574606" y="12572367"/>
            <a:ext cx="771525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dirty="0">
                <a:latin typeface="LM Roman 10" pitchFamily="2" charset="77"/>
                <a:ea typeface="Calibri" panose="020F0502020204030204" pitchFamily="34" charset="0"/>
              </a:rPr>
              <a:t>E</a:t>
            </a:r>
            <a:r>
              <a:rPr lang="en-US" sz="3000" dirty="0">
                <a:effectLst/>
                <a:latin typeface="LM Roman 10" pitchFamily="2" charset="77"/>
                <a:ea typeface="Calibri" panose="020F0502020204030204" pitchFamily="34" charset="0"/>
              </a:rPr>
              <a:t>xisting literature suggests that statements of denial are aimed at </a:t>
            </a:r>
            <a:r>
              <a:rPr lang="en-US" sz="3000" u="sng" dirty="0">
                <a:solidFill>
                  <a:srgbClr val="0D0D0D"/>
                </a:solidFill>
                <a:latin typeface="LM Roman 10" pitchFamily="2" charset="77"/>
              </a:rPr>
              <a:t>avoiding public backlash</a:t>
            </a:r>
            <a:r>
              <a:rPr lang="en-US" sz="3000" dirty="0">
                <a:solidFill>
                  <a:srgbClr val="0D0D0D"/>
                </a:solidFill>
                <a:latin typeface="LM Roman 10" pitchFamily="2" charset="77"/>
              </a:rPr>
              <a:t> (Kearns et al. 2014) but</a:t>
            </a:r>
            <a:r>
              <a:rPr lang="en-US" sz="3000" dirty="0">
                <a:effectLst/>
                <a:latin typeface="LM Roman 10" pitchFamily="2" charset="77"/>
                <a:ea typeface="Calibri" panose="020F0502020204030204" pitchFamily="34" charset="0"/>
              </a:rPr>
              <a:t> would statements from potentially </a:t>
            </a:r>
            <a:r>
              <a:rPr lang="en-US" sz="3000" u="sng" dirty="0">
                <a:solidFill>
                  <a:srgbClr val="0D0D0D"/>
                </a:solidFill>
                <a:latin typeface="LM Roman 10" pitchFamily="2" charset="77"/>
              </a:rPr>
              <a:t>untrustworthy actors</a:t>
            </a:r>
            <a:r>
              <a:rPr lang="en-US" sz="3000" dirty="0">
                <a:effectLst/>
                <a:latin typeface="LM Roman 10" pitchFamily="2" charset="77"/>
                <a:ea typeface="Calibri" panose="020F0502020204030204" pitchFamily="34" charset="0"/>
              </a:rPr>
              <a:t> achieve their intended effect</a:t>
            </a:r>
            <a:r>
              <a:rPr lang="en-US" sz="3000" dirty="0">
                <a:latin typeface="LM Roman 10" pitchFamily="2" charset="77"/>
                <a:ea typeface="Calibri" panose="020F0502020204030204" pitchFamily="34" charset="0"/>
              </a:rPr>
              <a:t>?</a:t>
            </a:r>
            <a:endParaRPr lang="en-US" sz="3000" dirty="0">
              <a:latin typeface="LM Roman 10" pitchFamily="2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132A660-A2C5-DD94-DF32-74A71EA18960}"/>
              </a:ext>
            </a:extLst>
          </p:cNvPr>
          <p:cNvSpPr txBox="1"/>
          <p:nvPr/>
        </p:nvSpPr>
        <p:spPr>
          <a:xfrm>
            <a:off x="610101" y="15258290"/>
            <a:ext cx="7715250" cy="630942"/>
          </a:xfrm>
          <a:prstGeom prst="rect">
            <a:avLst/>
          </a:prstGeom>
          <a:solidFill>
            <a:srgbClr val="23719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500" dirty="0">
                <a:solidFill>
                  <a:schemeClr val="bg1"/>
                </a:solidFill>
                <a:latin typeface="LM Roman 10" pitchFamily="2" charset="77"/>
              </a:rPr>
              <a:t>Theoretical Expectations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D96715-E0F5-79B2-27B1-710274F55619}"/>
              </a:ext>
            </a:extLst>
          </p:cNvPr>
          <p:cNvSpPr txBox="1"/>
          <p:nvPr/>
        </p:nvSpPr>
        <p:spPr>
          <a:xfrm>
            <a:off x="610101" y="16114853"/>
            <a:ext cx="7715250" cy="204055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0" i="0" dirty="0">
                <a:solidFill>
                  <a:srgbClr val="0D0D0D"/>
                </a:solidFill>
                <a:effectLst/>
                <a:latin typeface="LM Roman 10" pitchFamily="2" charset="77"/>
              </a:rPr>
              <a:t>Statements of denial can </a:t>
            </a:r>
            <a:r>
              <a:rPr lang="en-US" sz="3000" b="0" i="0" u="sng" dirty="0">
                <a:solidFill>
                  <a:srgbClr val="0D0D0D"/>
                </a:solidFill>
                <a:effectLst/>
                <a:latin typeface="LM Roman 10" pitchFamily="2" charset="77"/>
              </a:rPr>
              <a:t>reduce emotional distress</a:t>
            </a:r>
            <a:r>
              <a:rPr lang="en-US" sz="3000" b="0" i="0" dirty="0">
                <a:solidFill>
                  <a:srgbClr val="0D0D0D"/>
                </a:solidFill>
                <a:effectLst/>
                <a:latin typeface="LM Roman 10" pitchFamily="2" charset="77"/>
              </a:rPr>
              <a:t> by reassuring individuals that the alleged perpetrators are not actively planning attacks and that no imminent threat is present. By presenting a less threatening narrative, denials help people regulate emotions, making the alternative narrative more palatable.</a:t>
            </a:r>
          </a:p>
          <a:p>
            <a:pPr algn="just"/>
            <a:endParaRPr lang="en-US" sz="3000" dirty="0">
              <a:solidFill>
                <a:srgbClr val="0D0D0D"/>
              </a:solidFill>
              <a:latin typeface="LM Roman 10" pitchFamily="2" charset="77"/>
            </a:endParaRPr>
          </a:p>
          <a:p>
            <a:pPr algn="just"/>
            <a:r>
              <a:rPr lang="en-US" sz="3000" b="0" i="0" dirty="0">
                <a:solidFill>
                  <a:srgbClr val="0D0D0D"/>
                </a:solidFill>
                <a:effectLst/>
                <a:latin typeface="LM Roman 10" pitchFamily="2" charset="77"/>
              </a:rPr>
              <a:t>Denials also simplify the narrative, </a:t>
            </a:r>
            <a:r>
              <a:rPr lang="en-US" sz="3000" b="0" i="0" u="sng" dirty="0">
                <a:solidFill>
                  <a:srgbClr val="0D0D0D"/>
                </a:solidFill>
                <a:effectLst/>
                <a:latin typeface="LM Roman 10" pitchFamily="2" charset="77"/>
              </a:rPr>
              <a:t>reducing cognitive load</a:t>
            </a:r>
            <a:r>
              <a:rPr lang="en-US" sz="3000" b="0" i="0" dirty="0">
                <a:solidFill>
                  <a:srgbClr val="0D0D0D"/>
                </a:solidFill>
                <a:effectLst/>
                <a:latin typeface="LM Roman 10" pitchFamily="2" charset="77"/>
              </a:rPr>
              <a:t> (Haynes and Hayes 2010). This allows individuals to avoid the discomfort associated with cognitive overload, making the alternative narrative provided by the statement of denial more readily accepted.</a:t>
            </a:r>
          </a:p>
          <a:p>
            <a:pPr algn="just"/>
            <a:endParaRPr lang="en-US" sz="3000" dirty="0">
              <a:solidFill>
                <a:srgbClr val="0D0D0D"/>
              </a:solidFill>
              <a:latin typeface="LM Roman 10" pitchFamily="2" charset="77"/>
            </a:endParaRPr>
          </a:p>
          <a:p>
            <a:pPr algn="just"/>
            <a:r>
              <a:rPr lang="en-US" sz="3000" dirty="0">
                <a:solidFill>
                  <a:srgbClr val="0D0D0D"/>
                </a:solidFill>
                <a:latin typeface="LM Roman 10" pitchFamily="2" charset="77"/>
              </a:rPr>
              <a:t>	</a:t>
            </a:r>
            <a:r>
              <a:rPr lang="en-US" sz="3000" b="1" dirty="0">
                <a:solidFill>
                  <a:srgbClr val="0D0D0D"/>
                </a:solidFill>
                <a:latin typeface="LM Roman 10" pitchFamily="2" charset="77"/>
              </a:rPr>
              <a:t>H1: </a:t>
            </a:r>
            <a:r>
              <a:rPr lang="en-US" sz="3000" dirty="0">
                <a:solidFill>
                  <a:srgbClr val="0D0D0D"/>
                </a:solidFill>
                <a:latin typeface="LM Roman 10" pitchFamily="2" charset="77"/>
              </a:rPr>
              <a:t>Statements of denial of responsibility 	</a:t>
            </a:r>
            <a:r>
              <a:rPr lang="en-US" sz="3000" i="0" dirty="0">
                <a:solidFill>
                  <a:srgbClr val="0D0D0D"/>
                </a:solidFill>
                <a:effectLst/>
                <a:latin typeface="LM Roman 10" pitchFamily="2" charset="77"/>
              </a:rPr>
              <a:t>diminish individuals' conviction in the 	group's involvement in the attack.</a:t>
            </a:r>
          </a:p>
          <a:p>
            <a:pPr algn="just"/>
            <a:endParaRPr lang="en-US" sz="3000" dirty="0">
              <a:solidFill>
                <a:srgbClr val="0D0D0D"/>
              </a:solidFill>
              <a:latin typeface="LM Roman 10" pitchFamily="2" charset="77"/>
            </a:endParaRPr>
          </a:p>
          <a:p>
            <a:pPr algn="just"/>
            <a:r>
              <a:rPr lang="en-US" sz="3000" dirty="0">
                <a:effectLst/>
                <a:latin typeface="LM Roman 10" pitchFamily="2" charset="77"/>
                <a:ea typeface="Calibri" panose="020F0502020204030204" pitchFamily="34" charset="0"/>
              </a:rPr>
              <a:t>When the group denies involvement after the government attributes the attack to them, the denial can create a perception of</a:t>
            </a:r>
            <a:r>
              <a:rPr lang="en-US" sz="3000" u="sng" dirty="0">
                <a:solidFill>
                  <a:srgbClr val="0D0D0D"/>
                </a:solidFill>
                <a:latin typeface="LM Roman 10" pitchFamily="2" charset="77"/>
                <a:ea typeface="Calibri" panose="020F0502020204030204" pitchFamily="34" charset="0"/>
              </a:rPr>
              <a:t> </a:t>
            </a:r>
            <a:r>
              <a:rPr lang="en-US" sz="3000" b="0" i="0" u="sng" dirty="0">
                <a:solidFill>
                  <a:srgbClr val="0D0D0D"/>
                </a:solidFill>
                <a:effectLst/>
                <a:latin typeface="LM Roman 10" pitchFamily="2" charset="77"/>
              </a:rPr>
              <a:t>government deception</a:t>
            </a:r>
            <a:r>
              <a:rPr lang="en-US" sz="3000" dirty="0">
                <a:effectLst/>
                <a:latin typeface="LM Roman 10" pitchFamily="2" charset="77"/>
                <a:ea typeface="Calibri" panose="020F0502020204030204" pitchFamily="34" charset="0"/>
              </a:rPr>
              <a:t>, or inefficacy (Miller and Robinson 2019). Individuals may interpret the denial as evidence that the government knowingly misled the public.</a:t>
            </a:r>
          </a:p>
          <a:p>
            <a:pPr algn="just"/>
            <a:endParaRPr lang="en-US" sz="3000" dirty="0">
              <a:solidFill>
                <a:srgbClr val="0D0D0D"/>
              </a:solidFill>
              <a:latin typeface="LM Roman 10" pitchFamily="2" charset="77"/>
            </a:endParaRPr>
          </a:p>
          <a:p>
            <a:pPr algn="just"/>
            <a:r>
              <a:rPr lang="en-US" sz="3000" b="0" i="0" dirty="0">
                <a:solidFill>
                  <a:srgbClr val="0D0D0D"/>
                </a:solidFill>
                <a:effectLst/>
                <a:latin typeface="LM Roman 10" pitchFamily="2" charset="77"/>
              </a:rPr>
              <a:t>	</a:t>
            </a:r>
            <a:r>
              <a:rPr lang="en-US" sz="3000" b="1" i="0" dirty="0">
                <a:solidFill>
                  <a:srgbClr val="0D0D0D"/>
                </a:solidFill>
                <a:effectLst/>
                <a:latin typeface="LM Roman 10" pitchFamily="2" charset="77"/>
              </a:rPr>
              <a:t>H2: </a:t>
            </a:r>
            <a:r>
              <a:rPr lang="en-US" sz="3000" b="0" i="0" dirty="0">
                <a:solidFill>
                  <a:srgbClr val="0D0D0D"/>
                </a:solidFill>
                <a:effectLst/>
                <a:latin typeface="LM Roman 10" pitchFamily="2" charset="77"/>
              </a:rPr>
              <a:t>Statements of denial of responsibility 	reduce individuals' conviction in the 	government's credibility in handling acts 	of political violence.</a:t>
            </a:r>
          </a:p>
          <a:p>
            <a:pPr algn="just"/>
            <a:endParaRPr lang="en-US" sz="3000" dirty="0">
              <a:solidFill>
                <a:srgbClr val="0D0D0D"/>
              </a:solidFill>
              <a:latin typeface="LM Roman 10" pitchFamily="2" charset="77"/>
            </a:endParaRPr>
          </a:p>
          <a:p>
            <a:pPr algn="just"/>
            <a:r>
              <a:rPr lang="en-US" sz="3000" dirty="0">
                <a:effectLst/>
                <a:latin typeface="LM Roman 10" pitchFamily="2" charset="77"/>
                <a:ea typeface="Calibri" panose="020F0502020204030204" pitchFamily="34" charset="0"/>
              </a:rPr>
              <a:t>The denial might introduce doubt and uncertainty about the attribution of the attack (Pischedda et al. 2020). </a:t>
            </a:r>
            <a:r>
              <a:rPr lang="en-US" sz="3000" u="sng" dirty="0">
                <a:effectLst/>
                <a:latin typeface="LM Roman 10" pitchFamily="2" charset="77"/>
                <a:ea typeface="Calibri" panose="020F0502020204030204" pitchFamily="34" charset="0"/>
              </a:rPr>
              <a:t>Uncertainty</a:t>
            </a:r>
            <a:r>
              <a:rPr lang="en-US" sz="3000" dirty="0">
                <a:effectLst/>
                <a:latin typeface="LM Roman 10" pitchFamily="2" charset="77"/>
                <a:ea typeface="Calibri" panose="020F0502020204030204" pitchFamily="34" charset="0"/>
              </a:rPr>
              <a:t> can lead individuals to question their initial emotional response.</a:t>
            </a:r>
          </a:p>
          <a:p>
            <a:pPr algn="just"/>
            <a:endParaRPr lang="en-US" sz="3000" dirty="0">
              <a:latin typeface="LM Roman 10" pitchFamily="2" charset="77"/>
            </a:endParaRPr>
          </a:p>
          <a:p>
            <a:pPr algn="just"/>
            <a:r>
              <a:rPr lang="en-US" sz="3000" dirty="0">
                <a:latin typeface="LM Roman 10" pitchFamily="2" charset="77"/>
              </a:rPr>
              <a:t>	</a:t>
            </a:r>
            <a:r>
              <a:rPr lang="en-US" sz="3000" b="1" dirty="0">
                <a:latin typeface="LM Roman 10" pitchFamily="2" charset="77"/>
              </a:rPr>
              <a:t>H3: </a:t>
            </a:r>
            <a:r>
              <a:rPr lang="en-US" sz="3000" dirty="0">
                <a:latin typeface="LM Roman 10" pitchFamily="2" charset="77"/>
              </a:rPr>
              <a:t>Statements of denial of responsibility 	reduces the outrage that individuals feel 	following a violent attack.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3BC617-B8E6-7B6C-ADF5-44AF6A5CB495}"/>
              </a:ext>
            </a:extLst>
          </p:cNvPr>
          <p:cNvSpPr txBox="1"/>
          <p:nvPr/>
        </p:nvSpPr>
        <p:spPr>
          <a:xfrm>
            <a:off x="9001125" y="3924467"/>
            <a:ext cx="9429750" cy="130189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dirty="0">
                <a:latin typeface="LM Roman 10" pitchFamily="2" charset="77"/>
                <a:ea typeface="Calibri" panose="020F0502020204030204" pitchFamily="34" charset="0"/>
              </a:rPr>
              <a:t>N</a:t>
            </a:r>
            <a:r>
              <a:rPr lang="en-US" sz="3000" dirty="0">
                <a:effectLst/>
                <a:latin typeface="LM Roman 10" pitchFamily="2" charset="77"/>
                <a:ea typeface="Calibri" panose="020F0502020204030204" pitchFamily="34" charset="0"/>
              </a:rPr>
              <a:t>ationally representative sample of </a:t>
            </a:r>
            <a:r>
              <a:rPr lang="en-US" sz="3000" i="0" u="sng" dirty="0">
                <a:solidFill>
                  <a:srgbClr val="0D0D0D"/>
                </a:solidFill>
                <a:effectLst/>
                <a:latin typeface="LM Roman 10" pitchFamily="2" charset="77"/>
              </a:rPr>
              <a:t>2,016</a:t>
            </a:r>
            <a:r>
              <a:rPr lang="en-US" sz="3000" dirty="0">
                <a:effectLst/>
                <a:latin typeface="LM Roman 10" pitchFamily="2" charset="77"/>
                <a:ea typeface="Calibri" panose="020F0502020204030204" pitchFamily="34" charset="0"/>
              </a:rPr>
              <a:t> U.S. adults recruited on Lucid</a:t>
            </a:r>
          </a:p>
          <a:p>
            <a:pPr algn="just"/>
            <a:endParaRPr lang="en-US" sz="3000" dirty="0">
              <a:latin typeface="LM Roman 10" pitchFamily="2" charset="77"/>
              <a:ea typeface="Calibri" panose="020F0502020204030204" pitchFamily="34" charset="0"/>
            </a:endParaRPr>
          </a:p>
          <a:p>
            <a:pPr algn="just"/>
            <a:r>
              <a:rPr lang="en-US" sz="3000" i="0" u="sng" dirty="0">
                <a:solidFill>
                  <a:srgbClr val="0D0D0D"/>
                </a:solidFill>
                <a:effectLst/>
                <a:latin typeface="LM Roman 10" pitchFamily="2" charset="77"/>
              </a:rPr>
              <a:t>Vignette survey experiment:</a:t>
            </a:r>
            <a:r>
              <a:rPr lang="en-US" sz="3000" i="0" dirty="0">
                <a:solidFill>
                  <a:srgbClr val="0D0D0D"/>
                </a:solidFill>
                <a:effectLst/>
                <a:latin typeface="LM Roman 10" pitchFamily="2" charset="77"/>
              </a:rPr>
              <a:t> </a:t>
            </a:r>
            <a:r>
              <a:rPr lang="en-US" sz="3000" dirty="0">
                <a:effectLst/>
                <a:latin typeface="LM Roman 10" pitchFamily="2" charset="77"/>
                <a:ea typeface="Calibri" panose="020F0502020204030204" pitchFamily="34" charset="0"/>
              </a:rPr>
              <a:t>News story describing a fictional attack in a shopping mall in the suburbs of Kansas City</a:t>
            </a:r>
          </a:p>
          <a:p>
            <a:pPr algn="just"/>
            <a:endParaRPr lang="en-US" sz="3000" dirty="0">
              <a:latin typeface="LM Roman 10" pitchFamily="2" charset="77"/>
              <a:ea typeface="Calibri" panose="020F0502020204030204" pitchFamily="34" charset="0"/>
            </a:endParaRPr>
          </a:p>
          <a:p>
            <a:pPr algn="just"/>
            <a:r>
              <a:rPr lang="en-US" sz="3000" dirty="0">
                <a:latin typeface="LM Roman 10" pitchFamily="2" charset="77"/>
                <a:ea typeface="Calibri" panose="020F0502020204030204" pitchFamily="34" charset="0"/>
              </a:rPr>
              <a:t>Government attributes the attack to a </a:t>
            </a:r>
            <a:r>
              <a:rPr lang="en-US" sz="3000" i="0" u="sng" dirty="0">
                <a:solidFill>
                  <a:srgbClr val="0D0D0D"/>
                </a:solidFill>
                <a:effectLst/>
                <a:latin typeface="LM Roman 10" pitchFamily="2" charset="77"/>
              </a:rPr>
              <a:t>fictional</a:t>
            </a:r>
            <a:r>
              <a:rPr lang="en-US" sz="3000" i="0" dirty="0">
                <a:solidFill>
                  <a:srgbClr val="0D0D0D"/>
                </a:solidFill>
                <a:effectLst/>
                <a:latin typeface="LM Roman 10" pitchFamily="2" charset="77"/>
              </a:rPr>
              <a:t> </a:t>
            </a:r>
            <a:r>
              <a:rPr lang="en-US" sz="3000" dirty="0">
                <a:latin typeface="LM Roman 10" pitchFamily="2" charset="77"/>
                <a:ea typeface="Calibri" panose="020F0502020204030204" pitchFamily="34" charset="0"/>
              </a:rPr>
              <a:t>group called the International Resistance Movement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effectLst/>
                <a:latin typeface="LM Roman 10" pitchFamily="2" charset="77"/>
                <a:ea typeface="Calibri" panose="020F0502020204030204" pitchFamily="34" charset="0"/>
              </a:rPr>
              <a:t>Control Group: Perpetrators remains silent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LM Roman 10" pitchFamily="2" charset="77"/>
                <a:ea typeface="Calibri" panose="020F0502020204030204" pitchFamily="34" charset="0"/>
              </a:rPr>
              <a:t>Treatment Group 1 (</a:t>
            </a:r>
            <a:r>
              <a:rPr lang="en-US" sz="3000" i="0" u="sng" dirty="0">
                <a:solidFill>
                  <a:srgbClr val="0D0D0D"/>
                </a:solidFill>
                <a:effectLst/>
                <a:latin typeface="LM Roman 10" pitchFamily="2" charset="77"/>
              </a:rPr>
              <a:t>Denial</a:t>
            </a:r>
            <a:r>
              <a:rPr lang="en-US" sz="3000" dirty="0">
                <a:latin typeface="LM Roman 10" pitchFamily="2" charset="77"/>
                <a:ea typeface="Calibri" panose="020F0502020204030204" pitchFamily="34" charset="0"/>
              </a:rPr>
              <a:t>): Perpetrators deny responsibility in a social media posting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effectLst/>
                <a:latin typeface="LM Roman 10" pitchFamily="2" charset="77"/>
                <a:ea typeface="Calibri" panose="020F0502020204030204" pitchFamily="34" charset="0"/>
              </a:rPr>
              <a:t>Treatment Group </a:t>
            </a:r>
            <a:r>
              <a:rPr lang="en-US" sz="3000" dirty="0">
                <a:latin typeface="LM Roman 10" pitchFamily="2" charset="77"/>
                <a:ea typeface="Calibri" panose="020F0502020204030204" pitchFamily="34" charset="0"/>
              </a:rPr>
              <a:t>2 (</a:t>
            </a:r>
            <a:r>
              <a:rPr lang="en-US" sz="3000" i="0" u="sng" dirty="0">
                <a:solidFill>
                  <a:srgbClr val="0D0D0D"/>
                </a:solidFill>
                <a:effectLst/>
                <a:latin typeface="LM Roman 10" pitchFamily="2" charset="77"/>
              </a:rPr>
              <a:t>Claim</a:t>
            </a:r>
            <a:r>
              <a:rPr lang="en-US" sz="3000" dirty="0">
                <a:latin typeface="LM Roman 10" pitchFamily="2" charset="77"/>
                <a:ea typeface="Calibri" panose="020F0502020204030204" pitchFamily="34" charset="0"/>
              </a:rPr>
              <a:t>): Perpetrators claim the attack in a social media posting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LM Roman 10" pitchFamily="2" charset="77"/>
                <a:ea typeface="Calibri" panose="020F0502020204030204" pitchFamily="34" charset="0"/>
              </a:rPr>
              <a:t>Treatment Group 3 (</a:t>
            </a:r>
            <a:r>
              <a:rPr lang="en-US" sz="3000" i="0" u="sng" dirty="0">
                <a:solidFill>
                  <a:srgbClr val="0D0D0D"/>
                </a:solidFill>
                <a:effectLst/>
                <a:latin typeface="LM Roman 10" pitchFamily="2" charset="77"/>
              </a:rPr>
              <a:t>Competing Claims</a:t>
            </a:r>
            <a:r>
              <a:rPr lang="en-US" sz="3000" dirty="0">
                <a:latin typeface="LM Roman 10" pitchFamily="2" charset="77"/>
                <a:ea typeface="Calibri" panose="020F0502020204030204" pitchFamily="34" charset="0"/>
              </a:rPr>
              <a:t>): Two different groups claim the attack in separate social media postings</a:t>
            </a:r>
          </a:p>
          <a:p>
            <a:pPr algn="just"/>
            <a:endParaRPr lang="en-US" sz="3000" dirty="0">
              <a:effectLst/>
              <a:latin typeface="LM Roman 10" pitchFamily="2" charset="77"/>
              <a:ea typeface="Calibri" panose="020F0502020204030204" pitchFamily="34" charset="0"/>
            </a:endParaRPr>
          </a:p>
          <a:p>
            <a:pPr algn="just"/>
            <a:r>
              <a:rPr lang="en-US" sz="3000" dirty="0">
                <a:latin typeface="LM Roman 10" pitchFamily="2" charset="77"/>
                <a:ea typeface="Calibri" panose="020F0502020204030204" pitchFamily="34" charset="0"/>
              </a:rPr>
              <a:t>3 different post-treatment </a:t>
            </a:r>
            <a:r>
              <a:rPr lang="en-US" sz="3000" i="0" u="sng" dirty="0">
                <a:solidFill>
                  <a:srgbClr val="0D0D0D"/>
                </a:solidFill>
                <a:effectLst/>
                <a:latin typeface="LM Roman 10" pitchFamily="2" charset="77"/>
              </a:rPr>
              <a:t>attention checks</a:t>
            </a:r>
          </a:p>
          <a:p>
            <a:pPr algn="just"/>
            <a:endParaRPr lang="en-US" sz="3000" dirty="0">
              <a:effectLst/>
              <a:latin typeface="LM Roman 10" pitchFamily="2" charset="77"/>
              <a:ea typeface="Calibri" panose="020F0502020204030204" pitchFamily="34" charset="0"/>
            </a:endParaRPr>
          </a:p>
          <a:p>
            <a:pPr algn="just"/>
            <a:r>
              <a:rPr lang="en-US" sz="3000" i="0" u="sng" dirty="0">
                <a:solidFill>
                  <a:srgbClr val="0D0D0D"/>
                </a:solidFill>
                <a:effectLst/>
                <a:latin typeface="LM Roman 10" pitchFamily="2" charset="77"/>
              </a:rPr>
              <a:t>Measurement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effectLst/>
                <a:latin typeface="LM Roman 10" pitchFamily="2" charset="77"/>
                <a:ea typeface="Calibri" panose="020F0502020204030204" pitchFamily="34" charset="0"/>
              </a:rPr>
              <a:t>DV</a:t>
            </a:r>
            <a:r>
              <a:rPr lang="en-US" sz="3000" dirty="0">
                <a:latin typeface="LM Roman 10" pitchFamily="2" charset="77"/>
                <a:ea typeface="Calibri" panose="020F0502020204030204" pitchFamily="34" charset="0"/>
              </a:rPr>
              <a:t> Question 1 (Involvement): </a:t>
            </a:r>
            <a:r>
              <a:rPr lang="en-US" sz="3000" i="1" dirty="0">
                <a:latin typeface="LM Roman 10" pitchFamily="2" charset="77"/>
                <a:ea typeface="Calibri" panose="020F0502020204030204" pitchFamily="34" charset="0"/>
              </a:rPr>
              <a:t>How likely or unlikely is it that the international Resistance Movement is indeed responsible for the attack? 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endParaRPr lang="en-US" sz="3000" dirty="0">
              <a:latin typeface="LM Roman 10" pitchFamily="2" charset="77"/>
              <a:ea typeface="Calibri" panose="020F0502020204030204" pitchFamily="34" charset="0"/>
            </a:endParaRP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LM Roman 10" pitchFamily="2" charset="77"/>
                <a:ea typeface="Calibri" panose="020F0502020204030204" pitchFamily="34" charset="0"/>
              </a:rPr>
              <a:t>DV Question 2 (Credibility): </a:t>
            </a:r>
            <a:r>
              <a:rPr lang="en-US" sz="3000" i="1" dirty="0">
                <a:latin typeface="LM Roman 10" pitchFamily="2" charset="77"/>
                <a:ea typeface="Calibri" panose="020F0502020204030204" pitchFamily="34" charset="0"/>
              </a:rPr>
              <a:t>Do you think the government correctly identified the perpetrator of the group?</a:t>
            </a:r>
            <a:r>
              <a:rPr lang="en-US" sz="3000" i="1" dirty="0">
                <a:effectLst/>
                <a:latin typeface="LM Roman 10" pitchFamily="2" charset="77"/>
              </a:rPr>
              <a:t>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ABB374-E4F9-9B15-4661-A379BA807F2F}"/>
              </a:ext>
            </a:extLst>
          </p:cNvPr>
          <p:cNvSpPr/>
          <p:nvPr/>
        </p:nvSpPr>
        <p:spPr>
          <a:xfrm>
            <a:off x="8858250" y="17457685"/>
            <a:ext cx="18158112" cy="1456483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5">
              <a:latin typeface="LM Roman 10" pitchFamily="2" charset="77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6EF9596-3F80-D13F-B194-E447F183B98F}"/>
              </a:ext>
            </a:extLst>
          </p:cNvPr>
          <p:cNvSpPr/>
          <p:nvPr/>
        </p:nvSpPr>
        <p:spPr>
          <a:xfrm>
            <a:off x="8858250" y="32283233"/>
            <a:ext cx="18158112" cy="376257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5">
              <a:latin typeface="LM Roman 10" pitchFamily="2" charset="7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2924F0B-E8C1-3D23-A3AC-C6EF2BAFF33B}"/>
              </a:ext>
            </a:extLst>
          </p:cNvPr>
          <p:cNvSpPr txBox="1"/>
          <p:nvPr/>
        </p:nvSpPr>
        <p:spPr>
          <a:xfrm>
            <a:off x="9001125" y="17657058"/>
            <a:ext cx="17820774" cy="630942"/>
          </a:xfrm>
          <a:prstGeom prst="rect">
            <a:avLst/>
          </a:prstGeom>
          <a:solidFill>
            <a:srgbClr val="23719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500" dirty="0">
                <a:solidFill>
                  <a:schemeClr val="bg1"/>
                </a:solidFill>
                <a:latin typeface="LM Roman 10" pitchFamily="2" charset="77"/>
              </a:rPr>
              <a:t>Results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C9953C2-1E8B-6D70-A65C-BB35B09E32F4}"/>
              </a:ext>
            </a:extLst>
          </p:cNvPr>
          <p:cNvSpPr txBox="1"/>
          <p:nvPr/>
        </p:nvSpPr>
        <p:spPr>
          <a:xfrm>
            <a:off x="9001125" y="32400258"/>
            <a:ext cx="17820774" cy="630942"/>
          </a:xfrm>
          <a:prstGeom prst="rect">
            <a:avLst/>
          </a:prstGeom>
          <a:solidFill>
            <a:srgbClr val="23719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500" dirty="0">
                <a:solidFill>
                  <a:schemeClr val="bg1"/>
                </a:solidFill>
                <a:latin typeface="LM Roman 10" pitchFamily="2" charset="77"/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9C2389-1F44-2C19-8A41-2411A08D7290}"/>
              </a:ext>
            </a:extLst>
          </p:cNvPr>
          <p:cNvSpPr txBox="1"/>
          <p:nvPr/>
        </p:nvSpPr>
        <p:spPr>
          <a:xfrm>
            <a:off x="19158235" y="11449296"/>
            <a:ext cx="7715251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u="sng" dirty="0">
                <a:latin typeface="LM Roman 10" pitchFamily="2" charset="77"/>
              </a:rPr>
              <a:t>Additional strategic incentives</a:t>
            </a:r>
            <a:r>
              <a:rPr lang="en-US" sz="3000" dirty="0">
                <a:latin typeface="LM Roman 10" pitchFamily="2" charset="77"/>
              </a:rPr>
              <a:t> shaping armed groups’ public communication efforts, extending beyond mere efforts at avoiding public backlash</a:t>
            </a:r>
          </a:p>
          <a:p>
            <a:pPr algn="just"/>
            <a:endParaRPr lang="en-US" sz="3000" dirty="0">
              <a:latin typeface="LM Roman 10" pitchFamily="2" charset="77"/>
            </a:endParaRPr>
          </a:p>
          <a:p>
            <a:pPr algn="just"/>
            <a:r>
              <a:rPr lang="en-US" sz="3000" dirty="0">
                <a:latin typeface="LM Roman 10" pitchFamily="2" charset="77"/>
              </a:rPr>
              <a:t>Importance of manipulating the public’s emotional responses to violent events</a:t>
            </a:r>
          </a:p>
          <a:p>
            <a:pPr algn="just"/>
            <a:endParaRPr lang="en-US" sz="3000" dirty="0">
              <a:latin typeface="LM Roman 10" pitchFamily="2" charset="77"/>
            </a:endParaRPr>
          </a:p>
          <a:p>
            <a:pPr algn="just"/>
            <a:r>
              <a:rPr lang="en-US" sz="3000" dirty="0">
                <a:latin typeface="LM Roman 10" pitchFamily="2" charset="77"/>
              </a:rPr>
              <a:t>Implications for studying armed actors’ use of </a:t>
            </a:r>
            <a:r>
              <a:rPr lang="en-US" sz="3000" u="sng" dirty="0">
                <a:latin typeface="LM Roman 10" pitchFamily="2" charset="77"/>
              </a:rPr>
              <a:t>non-armed instruments to shape public opinion</a:t>
            </a:r>
            <a:r>
              <a:rPr lang="en-US" sz="3000" dirty="0">
                <a:latin typeface="LM Roman 10" pitchFamily="2" charset="77"/>
              </a:rPr>
              <a:t> in their favor (Johnson and Gillooly 2023)</a:t>
            </a:r>
          </a:p>
        </p:txBody>
      </p:sp>
      <p:pic>
        <p:nvPicPr>
          <p:cNvPr id="11" name="Picture 10" descr="A graph with blue and orange lines&#10;&#10;Description automatically generated">
            <a:extLst>
              <a:ext uri="{FF2B5EF4-FFF2-40B4-BE49-F238E27FC236}">
                <a16:creationId xmlns:a16="http://schemas.microsoft.com/office/drawing/2014/main" id="{ADEA8FCB-606A-C284-120B-C61D2C1FCDA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746" t="2272" b="20013"/>
          <a:stretch/>
        </p:blipFill>
        <p:spPr>
          <a:xfrm>
            <a:off x="12775207" y="18288000"/>
            <a:ext cx="9897230" cy="5249979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0DB261C-6B69-C382-CF7C-C93644821509}"/>
              </a:ext>
            </a:extLst>
          </p:cNvPr>
          <p:cNvSpPr txBox="1"/>
          <p:nvPr/>
        </p:nvSpPr>
        <p:spPr>
          <a:xfrm>
            <a:off x="9999364" y="18933741"/>
            <a:ext cx="32004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LM Roman 10" pitchFamily="2" charset="77"/>
              </a:rPr>
              <a:t>Denial by group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3B6AE4F-DEBD-36E7-76CA-7B60345DDB36}"/>
              </a:ext>
            </a:extLst>
          </p:cNvPr>
          <p:cNvSpPr txBox="1"/>
          <p:nvPr/>
        </p:nvSpPr>
        <p:spPr>
          <a:xfrm>
            <a:off x="9999364" y="20604599"/>
            <a:ext cx="32004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LM Roman 10" pitchFamily="2" charset="77"/>
              </a:rPr>
              <a:t>Claim by group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CC0D72D-787D-CFA1-E1B9-CCA521882E7E}"/>
              </a:ext>
            </a:extLst>
          </p:cNvPr>
          <p:cNvSpPr txBox="1"/>
          <p:nvPr/>
        </p:nvSpPr>
        <p:spPr>
          <a:xfrm>
            <a:off x="9018670" y="22300388"/>
            <a:ext cx="38404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LM Roman 10" pitchFamily="2" charset="77"/>
              </a:rPr>
              <a:t>Claims by two groups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B30EBA3-0D77-768B-F616-51F7288C4C27}"/>
              </a:ext>
            </a:extLst>
          </p:cNvPr>
          <p:cNvSpPr txBox="1"/>
          <p:nvPr/>
        </p:nvSpPr>
        <p:spPr>
          <a:xfrm>
            <a:off x="13206502" y="24050216"/>
            <a:ext cx="36604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700" dirty="0">
                <a:latin typeface="LM Roman 10" pitchFamily="2" charset="77"/>
              </a:rPr>
              <a:t>Group’s Involvement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4102750-50D8-FF54-3EAF-07DA493DF0D0}"/>
              </a:ext>
            </a:extLst>
          </p:cNvPr>
          <p:cNvSpPr txBox="1"/>
          <p:nvPr/>
        </p:nvSpPr>
        <p:spPr>
          <a:xfrm>
            <a:off x="16770526" y="24077176"/>
            <a:ext cx="4342277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700" dirty="0">
                <a:latin typeface="LM Roman 10" pitchFamily="2" charset="77"/>
              </a:rPr>
              <a:t>Government’s Credibility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F011A76-6618-F07C-CE24-E5129F1BEC19}"/>
              </a:ext>
            </a:extLst>
          </p:cNvPr>
          <p:cNvSpPr txBox="1"/>
          <p:nvPr/>
        </p:nvSpPr>
        <p:spPr>
          <a:xfrm>
            <a:off x="20964715" y="24076740"/>
            <a:ext cx="148395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700" dirty="0">
                <a:latin typeface="LM Roman 10" pitchFamily="2" charset="77"/>
              </a:rPr>
              <a:t>Outrage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3F17A58-31B6-7CBC-1DF3-2707DC02E7F8}"/>
              </a:ext>
            </a:extLst>
          </p:cNvPr>
          <p:cNvSpPr/>
          <p:nvPr/>
        </p:nvSpPr>
        <p:spPr>
          <a:xfrm>
            <a:off x="12961893" y="24176964"/>
            <a:ext cx="275088" cy="244728"/>
          </a:xfrm>
          <a:prstGeom prst="ellipse">
            <a:avLst/>
          </a:prstGeom>
          <a:solidFill>
            <a:srgbClr val="FAA3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6C16A9C-EEBB-47FD-A87D-E2E2EC86EEC4}"/>
              </a:ext>
            </a:extLst>
          </p:cNvPr>
          <p:cNvSpPr/>
          <p:nvPr/>
        </p:nvSpPr>
        <p:spPr>
          <a:xfrm>
            <a:off x="16531261" y="24191234"/>
            <a:ext cx="275088" cy="244728"/>
          </a:xfrm>
          <a:prstGeom prst="ellipse">
            <a:avLst/>
          </a:prstGeom>
          <a:solidFill>
            <a:srgbClr val="2371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389A9E20-FA4A-29EC-7269-AB7DE17DA0BC}"/>
              </a:ext>
            </a:extLst>
          </p:cNvPr>
          <p:cNvSpPr/>
          <p:nvPr/>
        </p:nvSpPr>
        <p:spPr>
          <a:xfrm>
            <a:off x="20726272" y="24189462"/>
            <a:ext cx="275088" cy="244728"/>
          </a:xfrm>
          <a:prstGeom prst="ellipse">
            <a:avLst/>
          </a:prstGeom>
          <a:solidFill>
            <a:srgbClr val="00BB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55CF528-9CB2-A9E2-8A85-71AB6835C565}"/>
              </a:ext>
            </a:extLst>
          </p:cNvPr>
          <p:cNvSpPr txBox="1"/>
          <p:nvPr/>
        </p:nvSpPr>
        <p:spPr>
          <a:xfrm>
            <a:off x="12695913" y="23379346"/>
            <a:ext cx="1083785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LM Roman 10" pitchFamily="2" charset="77"/>
              </a:rPr>
              <a:t>-2					 -1					  0					  1					  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375412A-74DA-52B9-7D23-113D2CBEEEB1}"/>
              </a:ext>
            </a:extLst>
          </p:cNvPr>
          <p:cNvSpPr txBox="1"/>
          <p:nvPr/>
        </p:nvSpPr>
        <p:spPr>
          <a:xfrm>
            <a:off x="22809315" y="18586727"/>
            <a:ext cx="407016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u="sng" dirty="0">
                <a:latin typeface="LM Roman 10" pitchFamily="2" charset="77"/>
              </a:rPr>
              <a:t>Logit Models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LM Roman 10" pitchFamily="2" charset="77"/>
              </a:rPr>
              <a:t>Party affiliation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LM Roman 10" pitchFamily="2" charset="77"/>
              </a:rPr>
              <a:t>News consumption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LM Roman 10" pitchFamily="2" charset="77"/>
              </a:rPr>
              <a:t>Social media usage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LM Roman 10" pitchFamily="2" charset="77"/>
              </a:rPr>
              <a:t>Demographics (e.g., gender, age, income, education, race, religion)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LM Roman 10" pitchFamily="2" charset="77"/>
              </a:rPr>
              <a:t>U.S. Region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LM Roman 10" pitchFamily="2" charset="77"/>
              </a:rPr>
              <a:t>Time spent reading the treatment vignettes</a:t>
            </a:r>
          </a:p>
        </p:txBody>
      </p:sp>
      <p:pic>
        <p:nvPicPr>
          <p:cNvPr id="39" name="Picture 38" descr="A diagram of a diagram&#10;&#10;Description automatically generated">
            <a:extLst>
              <a:ext uri="{FF2B5EF4-FFF2-40B4-BE49-F238E27FC236}">
                <a16:creationId xmlns:a16="http://schemas.microsoft.com/office/drawing/2014/main" id="{69D3E91B-21DC-E119-E24C-0B146A6B5A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8366" y="24913127"/>
            <a:ext cx="13756103" cy="7109396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E451B012-1042-5D5D-E5AB-96BA5385D009}"/>
              </a:ext>
            </a:extLst>
          </p:cNvPr>
          <p:cNvSpPr txBox="1"/>
          <p:nvPr/>
        </p:nvSpPr>
        <p:spPr>
          <a:xfrm>
            <a:off x="11224814" y="29955038"/>
            <a:ext cx="28393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solidFill>
                  <a:schemeClr val="bg1"/>
                </a:solidFill>
                <a:effectLst/>
                <a:latin typeface="LM Roman 10" pitchFamily="2" charset="77"/>
                <a:ea typeface="Calibri" panose="020F0502020204030204" pitchFamily="34" charset="0"/>
              </a:rPr>
              <a:t>Denial by the </a:t>
            </a:r>
          </a:p>
          <a:p>
            <a:pPr algn="ctr"/>
            <a:r>
              <a:rPr lang="en-US" sz="3000" dirty="0">
                <a:solidFill>
                  <a:schemeClr val="bg1"/>
                </a:solidFill>
                <a:effectLst/>
                <a:latin typeface="LM Roman 10" pitchFamily="2" charset="77"/>
                <a:ea typeface="Calibri" panose="020F0502020204030204" pitchFamily="34" charset="0"/>
              </a:rPr>
              <a:t>group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DC3430B-939D-B24C-9056-CB997E3EDD77}"/>
              </a:ext>
            </a:extLst>
          </p:cNvPr>
          <p:cNvSpPr txBox="1"/>
          <p:nvPr/>
        </p:nvSpPr>
        <p:spPr>
          <a:xfrm>
            <a:off x="21613393" y="29955037"/>
            <a:ext cx="28393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solidFill>
                  <a:schemeClr val="bg1"/>
                </a:solidFill>
                <a:effectLst/>
                <a:latin typeface="LM Roman 10" pitchFamily="2" charset="77"/>
                <a:ea typeface="Calibri" panose="020F0502020204030204" pitchFamily="34" charset="0"/>
              </a:rPr>
              <a:t>Credibility of Government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269A6A0-6EB4-A2F7-0980-343ECBA86A72}"/>
              </a:ext>
            </a:extLst>
          </p:cNvPr>
          <p:cNvSpPr txBox="1"/>
          <p:nvPr/>
        </p:nvSpPr>
        <p:spPr>
          <a:xfrm>
            <a:off x="13700354" y="26735872"/>
            <a:ext cx="283930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>
                <a:effectLst/>
                <a:latin typeface="LM Roman 10" pitchFamily="2" charset="77"/>
                <a:ea typeface="Calibri" panose="020F0502020204030204" pitchFamily="34" charset="0"/>
              </a:rPr>
              <a:t>Trust in gov. effectiveness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1065D10-6548-4322-60A6-7E13BDA19CC4}"/>
              </a:ext>
            </a:extLst>
          </p:cNvPr>
          <p:cNvSpPr txBox="1"/>
          <p:nvPr/>
        </p:nvSpPr>
        <p:spPr>
          <a:xfrm>
            <a:off x="16376767" y="26935926"/>
            <a:ext cx="28393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>
                <a:effectLst/>
                <a:latin typeface="LM Roman 10" pitchFamily="2" charset="77"/>
                <a:ea typeface="Calibri" panose="020F0502020204030204" pitchFamily="34" charset="0"/>
              </a:rPr>
              <a:t>Outrage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28885B6-9DBE-E371-A425-1D804ECE24FF}"/>
              </a:ext>
            </a:extLst>
          </p:cNvPr>
          <p:cNvSpPr txBox="1"/>
          <p:nvPr/>
        </p:nvSpPr>
        <p:spPr>
          <a:xfrm>
            <a:off x="19155327" y="26928027"/>
            <a:ext cx="28393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>
                <a:effectLst/>
                <a:latin typeface="LM Roman 10" pitchFamily="2" charset="77"/>
                <a:ea typeface="Calibri" panose="020F0502020204030204" pitchFamily="34" charset="0"/>
              </a:rPr>
              <a:t>Disgust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DA957F6-E65B-1D79-D274-909C00466BEB}"/>
              </a:ext>
            </a:extLst>
          </p:cNvPr>
          <p:cNvSpPr txBox="1"/>
          <p:nvPr/>
        </p:nvSpPr>
        <p:spPr>
          <a:xfrm>
            <a:off x="9018670" y="33129171"/>
            <a:ext cx="1780322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latin typeface="LM Roman 10" pitchFamily="2" charset="77"/>
              </a:rPr>
              <a:t>Haynes, Chris S., and Thomas J. Hayes. 2010. “Cognitive Load and Policy Evaluation: Evidence from an Experimental Design.” Paper presented at the 	APSA Meeting in Washington, D.C.</a:t>
            </a:r>
          </a:p>
          <a:p>
            <a:pPr algn="just"/>
            <a:r>
              <a:rPr lang="en-US" sz="2000" dirty="0">
                <a:latin typeface="LM Roman 10" pitchFamily="2" charset="77"/>
              </a:rPr>
              <a:t>Johnson, Philip L. and Shauna N. Gillooly. 2023. “Grammar of Threat: Governance and Order in Public Threats by Criminal Actors.” </a:t>
            </a:r>
            <a:r>
              <a:rPr lang="en-US" sz="2000" i="1" dirty="0">
                <a:latin typeface="LM Roman 10" pitchFamily="2" charset="77"/>
              </a:rPr>
              <a:t>Comparative Political 	Studies</a:t>
            </a:r>
            <a:r>
              <a:rPr lang="en-US" sz="2000" dirty="0">
                <a:latin typeface="LM Roman 10" pitchFamily="2" charset="77"/>
              </a:rPr>
              <a:t> 56 (10): 1567-1596. </a:t>
            </a:r>
          </a:p>
          <a:p>
            <a:pPr algn="just"/>
            <a:r>
              <a:rPr lang="en-US" sz="2000" dirty="0">
                <a:latin typeface="LM Roman 10" pitchFamily="2" charset="77"/>
              </a:rPr>
              <a:t>Kearns, Erin M., Brendan Conlon, and Joseph K. Young. 2014. “Lying about Terrorism.” </a:t>
            </a:r>
            <a:r>
              <a:rPr lang="en-US" sz="2000" i="1" dirty="0">
                <a:latin typeface="LM Roman 10" pitchFamily="2" charset="77"/>
              </a:rPr>
              <a:t>Studies in Conflict &amp; Terrorism </a:t>
            </a:r>
            <a:r>
              <a:rPr lang="en-US" sz="2000" dirty="0">
                <a:latin typeface="LM Roman 10" pitchFamily="2" charset="77"/>
              </a:rPr>
              <a:t>37 (5): 422-439.</a:t>
            </a:r>
          </a:p>
          <a:p>
            <a:pPr algn="just"/>
            <a:r>
              <a:rPr lang="en-US" sz="2000" b="0" i="0" dirty="0">
                <a:effectLst/>
                <a:latin typeface="LM Roman 10" pitchFamily="2" charset="77"/>
              </a:rPr>
              <a:t>Miller, David, and Piers Robinson. 2019. “Propaganda, Politics and Deception.” In: Docan-Morgan, T. (eds) </a:t>
            </a:r>
            <a:r>
              <a:rPr lang="en-US" sz="2000" b="0" i="1" dirty="0">
                <a:effectLst/>
                <a:latin typeface="LM Roman 10" pitchFamily="2" charset="77"/>
              </a:rPr>
              <a:t>The Palgrave Handbook of Deceptive 	Communication</a:t>
            </a:r>
            <a:r>
              <a:rPr lang="en-US" sz="2000" b="0" i="0" dirty="0">
                <a:effectLst/>
                <a:latin typeface="LM Roman 10" pitchFamily="2" charset="77"/>
              </a:rPr>
              <a:t>. Palgrave Macmillan, Cham.</a:t>
            </a:r>
          </a:p>
          <a:p>
            <a:pPr algn="just"/>
            <a:r>
              <a:rPr lang="en-US" sz="2000" dirty="0">
                <a:latin typeface="LM Roman 10" pitchFamily="2" charset="77"/>
              </a:rPr>
              <a:t>Pischedda, Constantino, Andrew Cheon, and Sara B. Moller. 2020. “Can You Have It Both Ways? Plausible Deniability and Attribution in Anonymous 	Coercive Bargaining.” Working Paper.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05C6641-DE28-B761-9D59-A2DB8A751B79}"/>
              </a:ext>
            </a:extLst>
          </p:cNvPr>
          <p:cNvSpPr txBox="1"/>
          <p:nvPr/>
        </p:nvSpPr>
        <p:spPr>
          <a:xfrm>
            <a:off x="22436239" y="26928027"/>
            <a:ext cx="364333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u="sng" dirty="0">
                <a:latin typeface="LM Roman 10" pitchFamily="2" charset="77"/>
              </a:rPr>
              <a:t>Mediation Analysis</a:t>
            </a:r>
          </a:p>
        </p:txBody>
      </p:sp>
    </p:spTree>
    <p:extLst>
      <p:ext uri="{BB962C8B-B14F-4D97-AF65-F5344CB8AC3E}">
        <p14:creationId xmlns:p14="http://schemas.microsoft.com/office/powerpoint/2010/main" val="36116423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009E12B7BCA99499DA62BC712993F52" ma:contentTypeVersion="13" ma:contentTypeDescription="Create a new document." ma:contentTypeScope="" ma:versionID="198aa7336eb18b2b9370147a1e15f00d">
  <xsd:schema xmlns:xsd="http://www.w3.org/2001/XMLSchema" xmlns:xs="http://www.w3.org/2001/XMLSchema" xmlns:p="http://schemas.microsoft.com/office/2006/metadata/properties" xmlns:ns3="f7eeb86a-fe34-468f-afee-5ad9912fbb62" xmlns:ns4="30d93464-d86e-4d9e-a8c9-7d441dfb1337" targetNamespace="http://schemas.microsoft.com/office/2006/metadata/properties" ma:root="true" ma:fieldsID="0ba6d180961ecf7d9465f6c2b8005ac4" ns3:_="" ns4:_="">
    <xsd:import namespace="f7eeb86a-fe34-468f-afee-5ad9912fbb62"/>
    <xsd:import namespace="30d93464-d86e-4d9e-a8c9-7d441dfb133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eeb86a-fe34-468f-afee-5ad9912fbb6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d93464-d86e-4d9e-a8c9-7d441dfb1337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34C5523-15FE-4D87-AC5C-CCAB0DBE424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90DC79A-E327-4589-9F69-F9A5D7A0ADE4}">
  <ds:schemaRefs>
    <ds:schemaRef ds:uri="f7eeb86a-fe34-468f-afee-5ad9912fbb62"/>
    <ds:schemaRef ds:uri="http://schemas.openxmlformats.org/package/2006/metadata/core-properties"/>
    <ds:schemaRef ds:uri="http://purl.org/dc/elements/1.1/"/>
    <ds:schemaRef ds:uri="http://schemas.microsoft.com/office/2006/metadata/properties"/>
    <ds:schemaRef ds:uri="http://purl.org/dc/dcmitype/"/>
    <ds:schemaRef ds:uri="http://purl.org/dc/terms/"/>
    <ds:schemaRef ds:uri="http://schemas.microsoft.com/office/infopath/2007/PartnerControls"/>
    <ds:schemaRef ds:uri="http://schemas.microsoft.com/office/2006/documentManagement/types"/>
    <ds:schemaRef ds:uri="30d93464-d86e-4d9e-a8c9-7d441dfb1337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C3B89F39-2A2F-4FA9-AD8B-4E3CC614CE6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7eeb86a-fe34-468f-afee-5ad9912fbb62"/>
    <ds:schemaRef ds:uri="30d93464-d86e-4d9e-a8c9-7d441dfb133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7cf48d45-3ddb-4389-a9c1-c115526eb52e}" enabled="0" method="" siteId="{7cf48d45-3ddb-4389-a9c1-c115526eb52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916</TotalTime>
  <Words>943</Words>
  <Application>Microsoft Macintosh PowerPoint</Application>
  <PresentationFormat>Custom</PresentationFormat>
  <Paragraphs>82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LM Roman 10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Swanger, Scott A</dc:creator>
  <cp:lastModifiedBy>Onder, Ilayda</cp:lastModifiedBy>
  <cp:revision>19</cp:revision>
  <dcterms:created xsi:type="dcterms:W3CDTF">2019-03-04T22:30:53Z</dcterms:created>
  <dcterms:modified xsi:type="dcterms:W3CDTF">2024-11-19T21:08:26Z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0x0101001009E12B7BCA99499DA62BC712993F52</vt:lpwstr>
  </property>
</Properties>
</file>